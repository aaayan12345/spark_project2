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777240" y="1097280"/>
            <a:ext cx="10424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3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Project 2 Report</a:t>
            </a:r>
            <a:endParaRPr lang="en-US" sz="3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777240" y="1901952"/>
            <a:ext cx="10424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22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Agent System and LLM Startup Business Plan</a:t>
            </a:r>
            <a:endParaRPr lang="en-US" sz="22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77240" y="2514600"/>
            <a:ext cx="104241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Zhang Yan   12313327</a:t>
            </a:r>
            <a:endParaRPr lang="en-US" sz="16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2057400" y="3886200"/>
            <a:ext cx="2377440" cy="9144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Q1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Agent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709160" y="3886200"/>
            <a:ext cx="2377440" cy="9144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Q2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Startup Plan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360920" y="3886200"/>
            <a:ext cx="2377440" cy="9144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System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8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Architecture</a:t>
            </a:r>
            <a:endParaRPr lang="en-US" sz="18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02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Project Scope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Overview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complete path from model training to product design.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737360"/>
            <a:ext cx="3337560" cy="3383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Q1 Technical Prototype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DataMind-12K selection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Qwen3.5-0.8B LoRA tuning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Gradio Web Demo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251960" y="1737360"/>
            <a:ext cx="3337560" cy="3383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Q2 Business Plan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InsightPilot AI startup idea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SME data analysis SaaS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Pricing, GTM and risks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0" y="1737360"/>
            <a:ext cx="3337560" cy="338328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Industrial Architecture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LLM engine and sandbox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Async queue for heavy jobs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Storage and monitoring layer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03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Agent Pipeline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Q1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technical workflow implemented in the project.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59436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1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Selection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274320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2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ChatML Data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489204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3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LoRA Training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704088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4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Adapter Export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189720" y="1828800"/>
            <a:ext cx="1828800" cy="777240"/>
          </a:xfrm>
          <a:prstGeom prst="roundRect">
            <a:avLst/>
          </a:prstGeom>
          <a:solidFill>
            <a:srgbClr val="EEF2F6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5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Web Demo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cxnSp>
        <p:nvCxnSpPr>
          <p:cNvPr id="11" name="Line 11"/>
          <p:cNvCxnSpPr/>
          <p:nvPr/>
        </p:nvCxnSpPr>
        <p:spPr>
          <a:xfrm>
            <a:off x="2423160" y="2212848"/>
            <a:ext cx="320040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572000" y="2212848"/>
            <a:ext cx="320039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720840" y="2212848"/>
            <a:ext cx="320040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869680" y="2212848"/>
            <a:ext cx="320040" cy="0"/>
          </a:xfrm>
          <a:prstGeom prst="line">
            <a:avLst/>
          </a:prstGeom>
          <a:ln w="16000">
            <a:solidFill>
              <a:srgbClr val="C9CED6"/>
            </a:solidFill>
          </a:ln>
        </p:spPr>
      </p:cxnSp>
      <p:sp>
        <p:nvSpPr>
          <p:cNvPr id="15" name="Shape 15"/>
          <p:cNvSpPr/>
          <p:nvPr/>
        </p:nvSpPr>
        <p:spPr>
          <a:xfrm>
            <a:off x="914400" y="3749039"/>
            <a:ext cx="3291840" cy="1143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Input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DataMind-12K multi-turn analysis trajectories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526280" y="3749039"/>
            <a:ext cx="3291840" cy="1143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Training Objective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Improve instruction following for data analysis tasks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8138160" y="3749039"/>
            <a:ext cx="2743200" cy="1143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Output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 local assistant with file upload and code execution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04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Data Selection Pipeline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Method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Quality filtering followed by diversity-aware sample selection.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103784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7" name="Shape 7"/>
          <p:cNvSpPr/>
          <p:nvPr/>
        </p:nvSpPr>
        <p:spPr>
          <a:xfrm>
            <a:off x="960120" y="5806440"/>
            <a:ext cx="10287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2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selected subset is designed to preserve both sample quality and task diversity.</a:t>
            </a:r>
            <a:endParaRPr lang="en-US" sz="12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05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Qwen LoRA Fine-tuning Workflow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Training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model is adapted with LoRA and deployed through the Gradio demo.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103784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7" name="Shape 7"/>
          <p:cNvSpPr/>
          <p:nvPr/>
        </p:nvSpPr>
        <p:spPr>
          <a:xfrm>
            <a:off x="960120" y="5806440"/>
            <a:ext cx="10287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2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workflow links ChatML data, Ray Train, LoRA adapter checkpoint and the final demo.</a:t>
            </a:r>
            <a:endParaRPr lang="en-US" sz="12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06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Web Demo: Model and Data Upload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Demo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demo runs locally with CUDA and LoRA loaded.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5349240" cy="333756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pic>
        <p:nvPicPr>
          <p:cNvPr id="7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508760"/>
            <a:ext cx="5166360" cy="333756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8" name="Shape 8"/>
          <p:cNvSpPr/>
          <p:nvPr/>
        </p:nvSpPr>
        <p:spPr>
          <a:xfrm>
            <a:off x="914400" y="5349240"/>
            <a:ext cx="4846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Model loaded, Val Loss displayed, CUDA device active.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583680" y="5349240"/>
            <a:ext cx="46634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CSV upload shows file metadata and first 10-row preview.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07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Natural-language Analysis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Demo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user asks a business question and receives an analysis answer.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1005840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7" name="Shape 7"/>
          <p:cNvSpPr/>
          <p:nvPr/>
        </p:nvSpPr>
        <p:spPr>
          <a:xfrm>
            <a:off x="1097280" y="5669280"/>
            <a:ext cx="996696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4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This demonstrates context-aware data analysis using the uploaded dataset summary.</a:t>
            </a:r>
            <a:endParaRPr lang="en-US" sz="14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08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Code Runner and Plot Output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Demo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Generated code is extracted, executed and visualized.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3492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pic>
        <p:nvPicPr>
          <p:cNvPr id="7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120640" cy="41605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  <p:sp>
        <p:nvSpPr>
          <p:cNvPr id="8" name="Shape 8"/>
          <p:cNvSpPr/>
          <p:nvPr/>
        </p:nvSpPr>
        <p:spPr>
          <a:xfrm>
            <a:off x="868680" y="5715000"/>
            <a:ext cx="5029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Code block extraction from assistant response.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446520" y="5715000"/>
            <a:ext cx="489204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3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Execution result with stdout and matplotlib chart.</a:t>
            </a:r>
            <a:endParaRPr lang="en-US" sz="13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09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Deployment and Debugging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Engineering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The project was adapted from Linux to Windows local deployment.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822960" y="1554480"/>
            <a:ext cx="3291840" cy="14173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Environment Fixes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local Qwen model path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PyTorch / CUDA compatibility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transformers version update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434840" y="1554480"/>
            <a:ext cx="3291840" cy="14173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Code Runner Fixes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Markdown and XML code tags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dedent indentation cleanup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pre-loaded df variable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046720" y="1554480"/>
            <a:ext cx="2834640" cy="141732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UI Fixes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streaming output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image file return for gr.Image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system prompt refinement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1097280" y="4251960"/>
            <a:ext cx="9966960" cy="68580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Engineering lesson: a Data Agent is not only model training; it also requires robust paths, dependencies, UI behavior and execution safety.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10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InsightPilot AI Startup Plan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Q2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commercial extension of the Q1 Data Agent prototype.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600200"/>
            <a:ext cx="3246120" cy="3337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Problem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SMEs have sales, marketing and operation data, but no dedicated data team.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4251960" y="1600200"/>
            <a:ext cx="3246120" cy="3337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Solution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An AI data analyst that turns uploaded data into code, charts and reports.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0" y="1600200"/>
            <a:ext cx="3246120" cy="33375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Beachhead Market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400"/>
          </a:p>
          <a:p>
            <a:pPr algn="l"/>
            <a:r>
              <a:rPr lang="en-US" sz="14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Small e-commerce and digital marketing teams with frequent reporting needs.</a:t>
            </a:r>
            <a:endParaRPr lang="en-US" sz="14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11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Business Model and Differentiation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Business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focused SaaS product between generic AI chat and enterprise BI.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31520" y="1417320"/>
            <a:ext cx="2057400" cy="310896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C9CED6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Free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limited upload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limited messages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2971800" y="1417320"/>
            <a:ext cx="20574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Starter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$19 / month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CSV analysis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5212080" y="1417320"/>
            <a:ext cx="20574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Team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$49 / user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workspaces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7452360" y="1417320"/>
            <a:ext cx="20574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Business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600"/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$299+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connectors</a:t>
            </a:r>
            <a:endParaRPr lang="en-US" sz="1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692640" y="1417320"/>
            <a:ext cx="1828800" cy="31089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A86622"/>
            </a:solidFill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Services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endParaRPr lang="en-US" sz="1500"/>
          </a:p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custom setup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templates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960120" y="5257800"/>
            <a:ext cx="10241280" cy="5029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Differentiation: SME workflow, transparent code, reusable reports and low setup cost.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12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Industrial System Architecture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Architecture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Hot path for online requests; cold path for expensive AI jobs.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pic>
        <p:nvPicPr>
          <p:cNvPr id="6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85800" y="1196340"/>
            <a:ext cx="11018520" cy="5074920"/>
          </a:xfrm>
          <a:prstGeom prst="rect">
            <a:avLst/>
          </a:prstGeom>
          <a:ln w="8000">
            <a:solidFill>
              <a:srgbClr val="D1D5DB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320040"/>
            <a:ext cx="685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0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13</a:t>
            </a:r>
            <a:endParaRPr lang="en-US" sz="10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85800" y="713232"/>
            <a:ext cx="9692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23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Limitations and Future Work</a:t>
            </a:r>
            <a:endParaRPr lang="en-US" sz="23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10287000" y="347472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r"/>
            <a:r>
              <a:rPr lang="en-US" sz="900" b="1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Reflection</a:t>
            </a:r>
            <a:endParaRPr lang="en-US" sz="900" b="1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04088" y="1115568"/>
            <a:ext cx="9326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r>
              <a:rPr lang="en-US" sz="1100">
                <a:solidFill>
                  <a:srgbClr val="4B5563"/>
                </a:solidFill>
                <a:latin typeface="Aptos"/>
                <a:ea typeface="微软雅黑" panose="020B0503020204020204" charset="-122"/>
              </a:rPr>
              <a:t>A realistic assessment of the prototype and the next development steps.</a:t>
            </a:r>
            <a:endParaRPr lang="en-US" sz="1100">
              <a:solidFill>
                <a:srgbClr val="4B5563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777240" y="1600200"/>
            <a:ext cx="5074920" cy="1280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5F8F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Model Capacity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500"/>
          </a:p>
          <a:p>
            <a:pPr algn="l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The base model is small; complex multi-step data analysis can still be limited.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355080" y="1600200"/>
            <a:ext cx="5074920" cy="1280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1F7A75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Prototype Safety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500"/>
          </a:p>
          <a:p>
            <a:pPr algn="l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The current demo is local; production deployment needs stronger sandbox isolation.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77240" y="3337560"/>
            <a:ext cx="5074920" cy="1280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3F7D58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SaaS Requirements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500"/>
          </a:p>
          <a:p>
            <a:pPr algn="l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 real product needs connectors, permissions, audit logs and cost control.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355080" y="3337560"/>
            <a:ext cx="5074920" cy="128016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A86622"/>
            </a:solidFill>
          </a:ln>
        </p:spPr>
        <p:txBody>
          <a:bodyPr wrap="square" lIns="115000" tIns="65000" rIns="115000" bIns="65000" anchor="t"/>
          <a:lstStyle/>
          <a:p>
            <a:pPr algn="l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Future Work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  <a:p>
            <a:pPr algn="l"/>
            <a:endParaRPr lang="en-US" sz="1500"/>
          </a:p>
          <a:p>
            <a:pPr algn="l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Add scheduled reports, feedback loop, systematic model evaluation and connector ecosystem.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1005840" y="5532120"/>
            <a:ext cx="10149840" cy="50292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15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Takeaway: the prototype proves feasibility, while production readiness depends on reliability, safety and evaluation.</a:t>
            </a:r>
            <a:endParaRPr lang="en-US" sz="15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2476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l"/>
            <a:endParaRPr lang="en-US" sz="1800"/>
          </a:p>
        </p:txBody>
      </p:sp>
      <p:sp>
        <p:nvSpPr>
          <p:cNvPr id="3" name="Shape 3"/>
          <p:cNvSpPr/>
          <p:nvPr/>
        </p:nvSpPr>
        <p:spPr>
          <a:xfrm>
            <a:off x="838835" y="2996565"/>
            <a:ext cx="10424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5000" tIns="65000" rIns="115000" bIns="65000" anchor="ctr"/>
          <a:lstStyle/>
          <a:p>
            <a:pPr algn="ctr"/>
            <a:r>
              <a:rPr lang="en-US" sz="3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Thank you</a:t>
            </a:r>
            <a:r>
              <a:rPr lang="zh-CN" altLang="en-US" sz="3600" b="1">
                <a:solidFill>
                  <a:srgbClr val="111111"/>
                </a:solidFill>
                <a:latin typeface="Aptos"/>
                <a:ea typeface="微软雅黑" panose="020B0503020204020204" charset="-122"/>
              </a:rPr>
              <a:t>！</a:t>
            </a:r>
            <a:endParaRPr lang="zh-CN" altLang="en-US" sz="3600" b="1">
              <a:solidFill>
                <a:srgbClr val="111111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111111"/>
      </a:dk1>
      <a:lt1>
        <a:srgbClr val="FFFFFF"/>
      </a:lt1>
      <a:dk2>
        <a:srgbClr val="4B5563"/>
      </a:dk2>
      <a:lt2>
        <a:srgbClr val="F7F7F7"/>
      </a:lt2>
      <a:accent1>
        <a:srgbClr val="2F5F8F"/>
      </a:accent1>
      <a:accent2>
        <a:srgbClr val="1F7A75"/>
      </a:accent2>
      <a:accent3>
        <a:srgbClr val="3F7D58"/>
      </a:accent3>
      <a:accent4>
        <a:srgbClr val="A86622"/>
      </a:accent4>
      <a:accent5>
        <a:srgbClr val="9A2F2F"/>
      </a:accent5>
      <a:accent6>
        <a:srgbClr val="C9CED6"/>
      </a:accent6>
      <a:hlink>
        <a:srgbClr val="2F5F8F"/>
      </a:hlink>
      <a:folHlink>
        <a:srgbClr val="FFFFFF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cademic">
      <a:fillStyleLst/>
      <a:lnStyleLst>
        <a:ln/>
        <a:ln/>
        <a:ln/>
      </a:lnStyleLst>
      <a:effectStyleLst/>
      <a:bgFillStyleLst/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3618</Words>
  <Application>WPS 演示</Application>
  <PresentationFormat/>
  <Paragraphs>249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Calibri</vt:lpstr>
      <vt:lpstr>Academic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yh</cp:lastModifiedBy>
  <cp:revision>2</cp:revision>
  <dcterms:created xsi:type="dcterms:W3CDTF">2026-06-02T14:04:00Z</dcterms:created>
  <dcterms:modified xsi:type="dcterms:W3CDTF">2026-06-02T14:33:18Z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14A796559A984213984822D7DFB403AF_12</vt:lpwstr>
  </property>
  <property fmtid="{D5CDD505-2E9C-101B-9397-08002B2CF9AE}" pid="3" name="KSOProductBuildVer">
    <vt:lpwstr>2052-12.1.0.21915</vt:lpwstr>
  </property>
</Properties>
</file>