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 type="screen4x3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endParaRPr lang="en-US" sz="1800"/>
          </a:p>
        </p:txBody>
      </p:sp>
      <p:sp>
        <p:nvSpPr>
          <p:cNvPr id="3" name="Shape 3"/>
          <p:cNvSpPr/>
          <p:nvPr/>
        </p:nvSpPr>
        <p:spPr>
          <a:xfrm>
            <a:off x="777240" y="1097280"/>
            <a:ext cx="104241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3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Project 2 Report</a:t>
            </a:r>
            <a:endParaRPr lang="en-US" sz="36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4" name="Shape 4"/>
          <p:cNvSpPr/>
          <p:nvPr/>
        </p:nvSpPr>
        <p:spPr>
          <a:xfrm>
            <a:off x="777240" y="1901952"/>
            <a:ext cx="104241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22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Data Agent System and LLM Startup Business Plan</a:t>
            </a:r>
            <a:endParaRPr lang="en-US" sz="22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777240" y="2514600"/>
            <a:ext cx="1042416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1600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Zhang Yan   12313327</a:t>
            </a:r>
            <a:endParaRPr lang="en-US" sz="1600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2057400" y="3886200"/>
            <a:ext cx="2377440" cy="914400"/>
          </a:xfrm>
          <a:prstGeom prst="roundRect">
            <a:avLst/>
          </a:prstGeom>
          <a:solidFill>
            <a:srgbClr val="F7F7F7"/>
          </a:solidFill>
          <a:ln w="9000">
            <a:solidFill>
              <a:srgbClr val="C9CED6"/>
            </a:solidFill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18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Q1</a:t>
            </a:r>
            <a:endParaRPr lang="en-US" sz="18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ctr"/>
            <a:r>
              <a:rPr lang="en-US" sz="18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Data Agent</a:t>
            </a:r>
            <a:endParaRPr lang="en-US" sz="18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7" name="Shape 7"/>
          <p:cNvSpPr/>
          <p:nvPr/>
        </p:nvSpPr>
        <p:spPr>
          <a:xfrm>
            <a:off x="4709160" y="3886200"/>
            <a:ext cx="2377440" cy="914400"/>
          </a:xfrm>
          <a:prstGeom prst="roundRect">
            <a:avLst/>
          </a:prstGeom>
          <a:solidFill>
            <a:srgbClr val="F7F7F7"/>
          </a:solidFill>
          <a:ln w="9000">
            <a:solidFill>
              <a:srgbClr val="C9CED6"/>
            </a:solidFill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18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Q2</a:t>
            </a:r>
            <a:endParaRPr lang="en-US" sz="18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ctr"/>
            <a:r>
              <a:rPr lang="en-US" sz="18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Startup Plan</a:t>
            </a:r>
            <a:endParaRPr lang="en-US" sz="18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8" name="Shape 8"/>
          <p:cNvSpPr/>
          <p:nvPr/>
        </p:nvSpPr>
        <p:spPr>
          <a:xfrm>
            <a:off x="7360920" y="3886200"/>
            <a:ext cx="2377440" cy="914400"/>
          </a:xfrm>
          <a:prstGeom prst="roundRect">
            <a:avLst/>
          </a:prstGeom>
          <a:solidFill>
            <a:srgbClr val="F7F7F7"/>
          </a:solidFill>
          <a:ln w="9000">
            <a:solidFill>
              <a:srgbClr val="C9CED6"/>
            </a:solidFill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18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System</a:t>
            </a:r>
            <a:endParaRPr lang="en-US" sz="18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ctr"/>
            <a:r>
              <a:rPr lang="en-US" sz="18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Architecture</a:t>
            </a:r>
            <a:endParaRPr lang="en-US" sz="18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2920" y="320040"/>
            <a:ext cx="6858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1000" b="1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02</a:t>
            </a:r>
            <a:endParaRPr lang="en-US" sz="1000" b="1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3" name="Shape 3"/>
          <p:cNvSpPr/>
          <p:nvPr/>
        </p:nvSpPr>
        <p:spPr>
          <a:xfrm>
            <a:off x="685800" y="713232"/>
            <a:ext cx="96926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23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Project Scope</a:t>
            </a:r>
            <a:endParaRPr lang="en-US" sz="23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4" name="Shape 4"/>
          <p:cNvSpPr/>
          <p:nvPr/>
        </p:nvSpPr>
        <p:spPr>
          <a:xfrm>
            <a:off x="10287000" y="347472"/>
            <a:ext cx="114300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r"/>
            <a:r>
              <a:rPr lang="en-US" sz="900" b="1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Overview</a:t>
            </a:r>
            <a:endParaRPr lang="en-US" sz="900" b="1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704088" y="1115568"/>
            <a:ext cx="93268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1100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A complete path from model training to product design.</a:t>
            </a:r>
            <a:endParaRPr lang="en-US" sz="1100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731520" y="1737360"/>
            <a:ext cx="3337560" cy="338328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2F5F8F"/>
            </a:solidFill>
          </a:ln>
        </p:spPr>
        <p:txBody>
          <a:bodyPr wrap="square" lIns="115000" tIns="65000" rIns="115000" bIns="65000" anchor="t"/>
          <a:lstStyle/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Q1 Technical Prototype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endParaRPr lang="en-US" sz="1400"/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DataMind-12K selection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Qwen3.5-0.8B LoRA tuning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Gradio Web Demo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7" name="Shape 7"/>
          <p:cNvSpPr/>
          <p:nvPr/>
        </p:nvSpPr>
        <p:spPr>
          <a:xfrm>
            <a:off x="4251960" y="1737360"/>
            <a:ext cx="3337560" cy="338328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1F7A75"/>
            </a:solidFill>
          </a:ln>
        </p:spPr>
        <p:txBody>
          <a:bodyPr wrap="square" lIns="115000" tIns="65000" rIns="115000" bIns="65000" anchor="t"/>
          <a:lstStyle/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Q2 Business Plan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endParaRPr lang="en-US" sz="1400"/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InsightPilot AI startup idea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SME data analysis SaaS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Pricing, GTM and risks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8" name="Shape 8"/>
          <p:cNvSpPr/>
          <p:nvPr/>
        </p:nvSpPr>
        <p:spPr>
          <a:xfrm>
            <a:off x="7772400" y="1737360"/>
            <a:ext cx="3337560" cy="338328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3F7D58"/>
            </a:solidFill>
          </a:ln>
        </p:spPr>
        <p:txBody>
          <a:bodyPr wrap="square" lIns="115000" tIns="65000" rIns="115000" bIns="65000" anchor="t"/>
          <a:lstStyle/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Industrial Architecture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endParaRPr lang="en-US" sz="1400"/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LLM engine and sandbox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Async queue for heavy jobs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Storage and monitoring layer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2920" y="320040"/>
            <a:ext cx="6858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1000" b="1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03</a:t>
            </a:r>
            <a:endParaRPr lang="en-US" sz="1000" b="1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3" name="Shape 3"/>
          <p:cNvSpPr/>
          <p:nvPr/>
        </p:nvSpPr>
        <p:spPr>
          <a:xfrm>
            <a:off x="685800" y="713232"/>
            <a:ext cx="96926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23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Data Agent Pipeline</a:t>
            </a:r>
            <a:endParaRPr lang="en-US" sz="23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4" name="Shape 4"/>
          <p:cNvSpPr/>
          <p:nvPr/>
        </p:nvSpPr>
        <p:spPr>
          <a:xfrm>
            <a:off x="10287000" y="347472"/>
            <a:ext cx="114300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r"/>
            <a:r>
              <a:rPr lang="en-US" sz="900" b="1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Q1</a:t>
            </a:r>
            <a:endParaRPr lang="en-US" sz="900" b="1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704088" y="1115568"/>
            <a:ext cx="93268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1100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The technical workflow implemented in the project.</a:t>
            </a:r>
            <a:endParaRPr lang="en-US" sz="1100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594360" y="1828800"/>
            <a:ext cx="1828800" cy="777240"/>
          </a:xfrm>
          <a:prstGeom prst="roundRect">
            <a:avLst/>
          </a:prstGeom>
          <a:solidFill>
            <a:srgbClr val="EEF2F6"/>
          </a:solidFill>
          <a:ln w="9000">
            <a:solidFill>
              <a:srgbClr val="C9CED6"/>
            </a:solidFill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1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1</a:t>
            </a:r>
            <a:endParaRPr lang="en-US" sz="16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ctr"/>
            <a:r>
              <a:rPr lang="en-US" sz="1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Data Selection</a:t>
            </a:r>
            <a:endParaRPr lang="en-US" sz="16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7" name="Shape 7"/>
          <p:cNvSpPr/>
          <p:nvPr/>
        </p:nvSpPr>
        <p:spPr>
          <a:xfrm>
            <a:off x="2743200" y="1828800"/>
            <a:ext cx="1828800" cy="777240"/>
          </a:xfrm>
          <a:prstGeom prst="roundRect">
            <a:avLst/>
          </a:prstGeom>
          <a:solidFill>
            <a:srgbClr val="EEF2F6"/>
          </a:solidFill>
          <a:ln w="9000">
            <a:solidFill>
              <a:srgbClr val="C9CED6"/>
            </a:solidFill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1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2</a:t>
            </a:r>
            <a:endParaRPr lang="en-US" sz="16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ctr"/>
            <a:r>
              <a:rPr lang="en-US" sz="1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ChatML Data</a:t>
            </a:r>
            <a:endParaRPr lang="en-US" sz="16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8" name="Shape 8"/>
          <p:cNvSpPr/>
          <p:nvPr/>
        </p:nvSpPr>
        <p:spPr>
          <a:xfrm>
            <a:off x="4892040" y="1828800"/>
            <a:ext cx="1828800" cy="777240"/>
          </a:xfrm>
          <a:prstGeom prst="roundRect">
            <a:avLst/>
          </a:prstGeom>
          <a:solidFill>
            <a:srgbClr val="EEF2F6"/>
          </a:solidFill>
          <a:ln w="9000">
            <a:solidFill>
              <a:srgbClr val="C9CED6"/>
            </a:solidFill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1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3</a:t>
            </a:r>
            <a:endParaRPr lang="en-US" sz="16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ctr"/>
            <a:r>
              <a:rPr lang="en-US" sz="1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LoRA Training</a:t>
            </a:r>
            <a:endParaRPr lang="en-US" sz="16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9" name="Shape 9"/>
          <p:cNvSpPr/>
          <p:nvPr/>
        </p:nvSpPr>
        <p:spPr>
          <a:xfrm>
            <a:off x="7040880" y="1828800"/>
            <a:ext cx="1828800" cy="777240"/>
          </a:xfrm>
          <a:prstGeom prst="roundRect">
            <a:avLst/>
          </a:prstGeom>
          <a:solidFill>
            <a:srgbClr val="EEF2F6"/>
          </a:solidFill>
          <a:ln w="9000">
            <a:solidFill>
              <a:srgbClr val="C9CED6"/>
            </a:solidFill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1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4</a:t>
            </a:r>
            <a:endParaRPr lang="en-US" sz="16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ctr"/>
            <a:r>
              <a:rPr lang="en-US" sz="1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Adapter Export</a:t>
            </a:r>
            <a:endParaRPr lang="en-US" sz="16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10" name="Shape 10"/>
          <p:cNvSpPr/>
          <p:nvPr/>
        </p:nvSpPr>
        <p:spPr>
          <a:xfrm>
            <a:off x="9189720" y="1828800"/>
            <a:ext cx="1828800" cy="777240"/>
          </a:xfrm>
          <a:prstGeom prst="roundRect">
            <a:avLst/>
          </a:prstGeom>
          <a:solidFill>
            <a:srgbClr val="EEF2F6"/>
          </a:solidFill>
          <a:ln w="9000">
            <a:solidFill>
              <a:srgbClr val="C9CED6"/>
            </a:solidFill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1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5</a:t>
            </a:r>
            <a:endParaRPr lang="en-US" sz="16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ctr"/>
            <a:r>
              <a:rPr lang="en-US" sz="1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Web Demo</a:t>
            </a:r>
            <a:endParaRPr lang="en-US" sz="16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cxnSp>
        <p:nvCxnSpPr>
          <p:cNvPr id="11" name="Line 11"/>
          <p:cNvCxnSpPr/>
          <p:nvPr/>
        </p:nvCxnSpPr>
        <p:spPr>
          <a:xfrm>
            <a:off x="2423160" y="2212848"/>
            <a:ext cx="320040" cy="0"/>
          </a:xfrm>
          <a:prstGeom prst="line">
            <a:avLst/>
          </a:prstGeom>
          <a:ln w="16000">
            <a:solidFill>
              <a:srgbClr val="C9CED6"/>
            </a:solidFill>
          </a:ln>
        </p:spPr>
      </p:cxnSp>
      <p:cxnSp>
        <p:nvCxnSpPr>
          <p:cNvPr id="12" name="Line 12"/>
          <p:cNvCxnSpPr/>
          <p:nvPr/>
        </p:nvCxnSpPr>
        <p:spPr>
          <a:xfrm>
            <a:off x="4572000" y="2212848"/>
            <a:ext cx="320039" cy="0"/>
          </a:xfrm>
          <a:prstGeom prst="line">
            <a:avLst/>
          </a:prstGeom>
          <a:ln w="16000">
            <a:solidFill>
              <a:srgbClr val="C9CED6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6720840" y="2212848"/>
            <a:ext cx="320040" cy="0"/>
          </a:xfrm>
          <a:prstGeom prst="line">
            <a:avLst/>
          </a:prstGeom>
          <a:ln w="16000">
            <a:solidFill>
              <a:srgbClr val="C9CED6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8869680" y="2212848"/>
            <a:ext cx="320040" cy="0"/>
          </a:xfrm>
          <a:prstGeom prst="line">
            <a:avLst/>
          </a:prstGeom>
          <a:ln w="16000">
            <a:solidFill>
              <a:srgbClr val="C9CED6"/>
            </a:solidFill>
          </a:ln>
        </p:spPr>
      </p:cxnSp>
      <p:sp>
        <p:nvSpPr>
          <p:cNvPr id="15" name="Shape 15"/>
          <p:cNvSpPr/>
          <p:nvPr/>
        </p:nvSpPr>
        <p:spPr>
          <a:xfrm>
            <a:off x="914400" y="3749039"/>
            <a:ext cx="3291840" cy="1143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2F5F8F"/>
            </a:solidFill>
          </a:ln>
        </p:spPr>
        <p:txBody>
          <a:bodyPr wrap="square" lIns="115000" tIns="65000" rIns="115000" bIns="65000" anchor="t"/>
          <a:lstStyle/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Input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endParaRPr lang="en-US" sz="1400"/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DataMind-12K multi-turn analysis trajectories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16" name="Shape 16"/>
          <p:cNvSpPr/>
          <p:nvPr/>
        </p:nvSpPr>
        <p:spPr>
          <a:xfrm>
            <a:off x="4526280" y="3749039"/>
            <a:ext cx="3291840" cy="1143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1F7A75"/>
            </a:solidFill>
          </a:ln>
        </p:spPr>
        <p:txBody>
          <a:bodyPr wrap="square" lIns="115000" tIns="65000" rIns="115000" bIns="65000" anchor="t"/>
          <a:lstStyle/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Training Objective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endParaRPr lang="en-US" sz="1400"/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Improve instruction following for data analysis tasks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17" name="Shape 17"/>
          <p:cNvSpPr/>
          <p:nvPr/>
        </p:nvSpPr>
        <p:spPr>
          <a:xfrm>
            <a:off x="8138160" y="3749039"/>
            <a:ext cx="2743200" cy="1143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3F7D58"/>
            </a:solidFill>
          </a:ln>
        </p:spPr>
        <p:txBody>
          <a:bodyPr wrap="square" lIns="115000" tIns="65000" rIns="115000" bIns="65000" anchor="t"/>
          <a:lstStyle/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Output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endParaRPr lang="en-US" sz="1400"/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A local assistant with file upload and code execution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2920" y="320040"/>
            <a:ext cx="6858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1000" b="1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04</a:t>
            </a:r>
            <a:endParaRPr lang="en-US" sz="1000" b="1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3" name="Shape 3"/>
          <p:cNvSpPr/>
          <p:nvPr/>
        </p:nvSpPr>
        <p:spPr>
          <a:xfrm>
            <a:off x="685800" y="713232"/>
            <a:ext cx="96926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23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Data Selection Methods</a:t>
            </a:r>
            <a:endParaRPr lang="en-US" sz="23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4" name="Shape 4"/>
          <p:cNvSpPr/>
          <p:nvPr/>
        </p:nvSpPr>
        <p:spPr>
          <a:xfrm>
            <a:off x="10287000" y="347472"/>
            <a:ext cx="114300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r"/>
            <a:r>
              <a:rPr lang="en-US" sz="900" b="1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Method</a:t>
            </a:r>
            <a:endParaRPr lang="en-US" sz="900" b="1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704088" y="1115568"/>
            <a:ext cx="93268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1100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Quality first, then diversity coverage.</a:t>
            </a:r>
            <a:endParaRPr lang="en-US" sz="1100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731520" y="1691640"/>
            <a:ext cx="3246120" cy="356616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2F5F8F"/>
            </a:solidFill>
          </a:ln>
        </p:spPr>
        <p:txBody>
          <a:bodyPr wrap="square" lIns="115000" tIns="65000" rIns="115000" bIns="65000" anchor="t"/>
          <a:lstStyle/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IFD-inspired Quality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endParaRPr lang="en-US" sz="1400"/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Scores instruction-answer dependency, reasoning depth, code use and task complexity.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7" name="Shape 7"/>
          <p:cNvSpPr/>
          <p:nvPr/>
        </p:nvSpPr>
        <p:spPr>
          <a:xfrm>
            <a:off x="4251960" y="1691640"/>
            <a:ext cx="3246120" cy="356616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1F7A75"/>
            </a:solidFill>
          </a:ln>
        </p:spPr>
        <p:txBody>
          <a:bodyPr wrap="square" lIns="115000" tIns="65000" rIns="115000" bIns="65000" anchor="t"/>
          <a:lstStyle/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InstructMining Idea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endParaRPr lang="en-US" sz="1400"/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Uses multi-dimensional quality indicators such as clarity, correctness and completeness.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8" name="Shape 8"/>
          <p:cNvSpPr/>
          <p:nvPr/>
        </p:nvSpPr>
        <p:spPr>
          <a:xfrm>
            <a:off x="7772400" y="1691640"/>
            <a:ext cx="3246120" cy="356616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3F7D58"/>
            </a:solidFill>
          </a:ln>
        </p:spPr>
        <p:txBody>
          <a:bodyPr wrap="square" lIns="115000" tIns="65000" rIns="115000" bIns="65000" anchor="t"/>
          <a:lstStyle/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K-Center Greedy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endParaRPr lang="en-US" sz="1400"/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Selects diverse core samples to cover different data science task types.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2920" y="320040"/>
            <a:ext cx="6858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1000" b="1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05</a:t>
            </a:r>
            <a:endParaRPr lang="en-US" sz="1000" b="1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3" name="Shape 3"/>
          <p:cNvSpPr/>
          <p:nvPr/>
        </p:nvSpPr>
        <p:spPr>
          <a:xfrm>
            <a:off x="685800" y="713232"/>
            <a:ext cx="96926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23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Dataset and LoRA Training</a:t>
            </a:r>
            <a:endParaRPr lang="en-US" sz="23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4" name="Shape 4"/>
          <p:cNvSpPr/>
          <p:nvPr/>
        </p:nvSpPr>
        <p:spPr>
          <a:xfrm>
            <a:off x="10287000" y="347472"/>
            <a:ext cx="114300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r"/>
            <a:r>
              <a:rPr lang="en-US" sz="900" b="1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Training</a:t>
            </a:r>
            <a:endParaRPr lang="en-US" sz="900" b="1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704088" y="1115568"/>
            <a:ext cx="93268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1100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Main training evidence and configuration.</a:t>
            </a:r>
            <a:endParaRPr lang="en-US" sz="1100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731520" y="1600200"/>
            <a:ext cx="2834640" cy="1188720"/>
          </a:xfrm>
          <a:prstGeom prst="roundRect">
            <a:avLst/>
          </a:prstGeom>
          <a:solidFill>
            <a:srgbClr val="F7F7F7"/>
          </a:solidFill>
          <a:ln w="9000">
            <a:solidFill>
              <a:srgbClr val="2F5F8F"/>
            </a:solidFill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22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Training Set</a:t>
            </a:r>
            <a:endParaRPr lang="en-US" sz="22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ctr"/>
            <a:endParaRPr lang="en-US" sz="2200"/>
          </a:p>
          <a:p>
            <a:pPr algn="ctr"/>
            <a:r>
              <a:rPr lang="en-US" sz="22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2,000 samples</a:t>
            </a:r>
            <a:endParaRPr lang="en-US" sz="22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7" name="Shape 7"/>
          <p:cNvSpPr/>
          <p:nvPr/>
        </p:nvSpPr>
        <p:spPr>
          <a:xfrm>
            <a:off x="3977639" y="1600200"/>
            <a:ext cx="2834640" cy="1188720"/>
          </a:xfrm>
          <a:prstGeom prst="roundRect">
            <a:avLst/>
          </a:prstGeom>
          <a:solidFill>
            <a:srgbClr val="F7F7F7"/>
          </a:solidFill>
          <a:ln w="9000">
            <a:solidFill>
              <a:srgbClr val="1F7A75"/>
            </a:solidFill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22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Validation Set</a:t>
            </a:r>
            <a:endParaRPr lang="en-US" sz="22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ctr"/>
            <a:endParaRPr lang="en-US" sz="2200"/>
          </a:p>
          <a:p>
            <a:pPr algn="ctr"/>
            <a:r>
              <a:rPr lang="en-US" sz="22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500 samples</a:t>
            </a:r>
            <a:endParaRPr lang="en-US" sz="22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8" name="Shape 8"/>
          <p:cNvSpPr/>
          <p:nvPr/>
        </p:nvSpPr>
        <p:spPr>
          <a:xfrm>
            <a:off x="7223760" y="1600200"/>
            <a:ext cx="3474720" cy="1188720"/>
          </a:xfrm>
          <a:prstGeom prst="roundRect">
            <a:avLst/>
          </a:prstGeom>
          <a:solidFill>
            <a:srgbClr val="F7F7F7"/>
          </a:solidFill>
          <a:ln w="9000">
            <a:solidFill>
              <a:srgbClr val="3F7D58"/>
            </a:solidFill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22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Final Val Loss</a:t>
            </a:r>
            <a:endParaRPr lang="en-US" sz="22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ctr"/>
            <a:endParaRPr lang="en-US" sz="2200"/>
          </a:p>
          <a:p>
            <a:pPr algn="ctr"/>
            <a:r>
              <a:rPr lang="en-US" sz="22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0.1177</a:t>
            </a:r>
            <a:endParaRPr lang="en-US" sz="22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9" name="Shape 9"/>
          <p:cNvSpPr/>
          <p:nvPr/>
        </p:nvSpPr>
        <p:spPr>
          <a:xfrm>
            <a:off x="914400" y="3657600"/>
            <a:ext cx="3063240" cy="13716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2F5F8F"/>
            </a:solidFill>
          </a:ln>
        </p:spPr>
        <p:txBody>
          <a:bodyPr wrap="square" lIns="115000" tIns="65000" rIns="115000" bIns="65000" anchor="t"/>
          <a:lstStyle/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LoRA Config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endParaRPr lang="en-US" sz="1400"/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rank r = 16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alpha = 32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dropout = 0.05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10" name="Shape 10"/>
          <p:cNvSpPr/>
          <p:nvPr/>
        </p:nvSpPr>
        <p:spPr>
          <a:xfrm>
            <a:off x="4343400" y="3657600"/>
            <a:ext cx="3063240" cy="13716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1F7A75"/>
            </a:solidFill>
          </a:ln>
        </p:spPr>
        <p:txBody>
          <a:bodyPr wrap="square" lIns="115000" tIns="65000" rIns="115000" bIns="65000" anchor="t"/>
          <a:lstStyle/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Training Setup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endParaRPr lang="en-US" sz="1400"/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Ray Train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assistant-only loss masking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gradient checkpointing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11" name="Shape 11"/>
          <p:cNvSpPr/>
          <p:nvPr/>
        </p:nvSpPr>
        <p:spPr>
          <a:xfrm>
            <a:off x="7772400" y="3657600"/>
            <a:ext cx="3063240" cy="13716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3F7D58"/>
            </a:solidFill>
          </a:ln>
        </p:spPr>
        <p:txBody>
          <a:bodyPr wrap="square" lIns="115000" tIns="65000" rIns="115000" bIns="65000" anchor="t"/>
          <a:lstStyle/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Checkpoint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endParaRPr lang="en-US" sz="1400"/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adapter_model.safetensors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about 25.6 MB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saved in best_model/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2920" y="320040"/>
            <a:ext cx="6858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1000" b="1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06</a:t>
            </a:r>
            <a:endParaRPr lang="en-US" sz="1000" b="1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3" name="Shape 3"/>
          <p:cNvSpPr/>
          <p:nvPr/>
        </p:nvSpPr>
        <p:spPr>
          <a:xfrm>
            <a:off x="685800" y="713232"/>
            <a:ext cx="96926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23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Web Demo: Model and Data Upload</a:t>
            </a:r>
            <a:endParaRPr lang="en-US" sz="23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4" name="Shape 4"/>
          <p:cNvSpPr/>
          <p:nvPr/>
        </p:nvSpPr>
        <p:spPr>
          <a:xfrm>
            <a:off x="10287000" y="347472"/>
            <a:ext cx="114300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r"/>
            <a:r>
              <a:rPr lang="en-US" sz="900" b="1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Demo</a:t>
            </a:r>
            <a:endParaRPr lang="en-US" sz="900" b="1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704088" y="1115568"/>
            <a:ext cx="93268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1100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The demo runs locally with CUDA and LoRA loaded.</a:t>
            </a:r>
            <a:endParaRPr lang="en-US" sz="1100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pic>
        <p:nvPicPr>
          <p:cNvPr id="6" name="Picture 6"/>
          <p:cNvPicPr/>
          <p:nvPr/>
        </p:nvPicPr>
        <p:blipFill>
          <a:blip r:embed="rId1"/>
          <a:stretch>
            <a:fillRect/>
          </a:stretch>
        </p:blipFill>
        <p:spPr>
          <a:xfrm>
            <a:off x="685800" y="1508760"/>
            <a:ext cx="5349240" cy="3337560"/>
          </a:xfrm>
          <a:prstGeom prst="rect">
            <a:avLst/>
          </a:prstGeom>
          <a:ln w="8000">
            <a:solidFill>
              <a:srgbClr val="D1D5DB"/>
            </a:solidFill>
          </a:ln>
        </p:spPr>
      </p:pic>
      <p:pic>
        <p:nvPicPr>
          <p:cNvPr id="7" name="Picture 7"/>
          <p:cNvPicPr/>
          <p:nvPr/>
        </p:nvPicPr>
        <p:blipFill>
          <a:blip r:embed="rId2"/>
          <a:stretch>
            <a:fillRect/>
          </a:stretch>
        </p:blipFill>
        <p:spPr>
          <a:xfrm>
            <a:off x="6309360" y="1508760"/>
            <a:ext cx="5166360" cy="3337560"/>
          </a:xfrm>
          <a:prstGeom prst="rect">
            <a:avLst/>
          </a:prstGeom>
          <a:ln w="8000">
            <a:solidFill>
              <a:srgbClr val="D1D5DB"/>
            </a:solidFill>
          </a:ln>
        </p:spPr>
      </p:pic>
      <p:sp>
        <p:nvSpPr>
          <p:cNvPr id="8" name="Shape 8"/>
          <p:cNvSpPr/>
          <p:nvPr/>
        </p:nvSpPr>
        <p:spPr>
          <a:xfrm>
            <a:off x="914400" y="5349240"/>
            <a:ext cx="484632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1300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Model loaded, Val Loss displayed, CUDA device active.</a:t>
            </a:r>
            <a:endParaRPr lang="en-US" sz="1300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9" name="Shape 9"/>
          <p:cNvSpPr/>
          <p:nvPr/>
        </p:nvSpPr>
        <p:spPr>
          <a:xfrm>
            <a:off x="6583680" y="5349240"/>
            <a:ext cx="466344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1300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CSV upload shows file metadata and first 10-row preview.</a:t>
            </a:r>
            <a:endParaRPr lang="en-US" sz="1300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2920" y="320040"/>
            <a:ext cx="6858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1000" b="1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07</a:t>
            </a:r>
            <a:endParaRPr lang="en-US" sz="1000" b="1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3" name="Shape 3"/>
          <p:cNvSpPr/>
          <p:nvPr/>
        </p:nvSpPr>
        <p:spPr>
          <a:xfrm>
            <a:off x="685800" y="713232"/>
            <a:ext cx="96926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23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Natural-language Analysis</a:t>
            </a:r>
            <a:endParaRPr lang="en-US" sz="23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4" name="Shape 4"/>
          <p:cNvSpPr/>
          <p:nvPr/>
        </p:nvSpPr>
        <p:spPr>
          <a:xfrm>
            <a:off x="10287000" y="347472"/>
            <a:ext cx="114300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r"/>
            <a:r>
              <a:rPr lang="en-US" sz="900" b="1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Demo</a:t>
            </a:r>
            <a:endParaRPr lang="en-US" sz="900" b="1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704088" y="1115568"/>
            <a:ext cx="93268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1100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The user asks a business question and receives an analysis answer.</a:t>
            </a:r>
            <a:endParaRPr lang="en-US" sz="1100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pic>
        <p:nvPicPr>
          <p:cNvPr id="6" name="Picture 6"/>
          <p:cNvPicPr/>
          <p:nvPr/>
        </p:nvPicPr>
        <p:blipFill>
          <a:blip r:embed="rId1"/>
          <a:stretch>
            <a:fillRect/>
          </a:stretch>
        </p:blipFill>
        <p:spPr>
          <a:xfrm>
            <a:off x="1051560" y="1417320"/>
            <a:ext cx="10058400" cy="4160520"/>
          </a:xfrm>
          <a:prstGeom prst="rect">
            <a:avLst/>
          </a:prstGeom>
          <a:ln w="8000">
            <a:solidFill>
              <a:srgbClr val="D1D5DB"/>
            </a:solidFill>
          </a:ln>
        </p:spPr>
      </p:pic>
      <p:sp>
        <p:nvSpPr>
          <p:cNvPr id="7" name="Shape 7"/>
          <p:cNvSpPr/>
          <p:nvPr/>
        </p:nvSpPr>
        <p:spPr>
          <a:xfrm>
            <a:off x="1097280" y="5669280"/>
            <a:ext cx="996696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1400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This demonstrates context-aware data analysis using the uploaded dataset summary.</a:t>
            </a:r>
            <a:endParaRPr lang="en-US" sz="1400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2920" y="320040"/>
            <a:ext cx="6858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1000" b="1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08</a:t>
            </a:r>
            <a:endParaRPr lang="en-US" sz="1000" b="1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3" name="Shape 3"/>
          <p:cNvSpPr/>
          <p:nvPr/>
        </p:nvSpPr>
        <p:spPr>
          <a:xfrm>
            <a:off x="685800" y="713232"/>
            <a:ext cx="96926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23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Code Runner and Plot Output</a:t>
            </a:r>
            <a:endParaRPr lang="en-US" sz="23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4" name="Shape 4"/>
          <p:cNvSpPr/>
          <p:nvPr/>
        </p:nvSpPr>
        <p:spPr>
          <a:xfrm>
            <a:off x="10287000" y="347472"/>
            <a:ext cx="114300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r"/>
            <a:r>
              <a:rPr lang="en-US" sz="900" b="1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Demo</a:t>
            </a:r>
            <a:endParaRPr lang="en-US" sz="900" b="1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704088" y="1115568"/>
            <a:ext cx="93268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1100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Generated code is extracted, executed and visualized.</a:t>
            </a:r>
            <a:endParaRPr lang="en-US" sz="1100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pic>
        <p:nvPicPr>
          <p:cNvPr id="6" name="Picture 6"/>
          <p:cNvPicPr/>
          <p:nvPr/>
        </p:nvPicPr>
        <p:blipFill>
          <a:blip r:embed="rId1"/>
          <a:stretch>
            <a:fillRect/>
          </a:stretch>
        </p:blipFill>
        <p:spPr>
          <a:xfrm>
            <a:off x="731520" y="1417320"/>
            <a:ext cx="5349240" cy="4160520"/>
          </a:xfrm>
          <a:prstGeom prst="rect">
            <a:avLst/>
          </a:prstGeom>
          <a:ln w="8000">
            <a:solidFill>
              <a:srgbClr val="D1D5DB"/>
            </a:solidFill>
          </a:ln>
        </p:spPr>
      </p:pic>
      <p:pic>
        <p:nvPicPr>
          <p:cNvPr id="7" name="Picture 7"/>
          <p:cNvPicPr/>
          <p:nvPr/>
        </p:nvPicPr>
        <p:blipFill>
          <a:blip r:embed="rId2"/>
          <a:stretch>
            <a:fillRect/>
          </a:stretch>
        </p:blipFill>
        <p:spPr>
          <a:xfrm>
            <a:off x="6309360" y="1417320"/>
            <a:ext cx="5120640" cy="4160520"/>
          </a:xfrm>
          <a:prstGeom prst="rect">
            <a:avLst/>
          </a:prstGeom>
          <a:ln w="8000">
            <a:solidFill>
              <a:srgbClr val="D1D5DB"/>
            </a:solidFill>
          </a:ln>
        </p:spPr>
      </p:pic>
      <p:sp>
        <p:nvSpPr>
          <p:cNvPr id="8" name="Shape 8"/>
          <p:cNvSpPr/>
          <p:nvPr/>
        </p:nvSpPr>
        <p:spPr>
          <a:xfrm>
            <a:off x="868680" y="5715000"/>
            <a:ext cx="502920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1300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Code block extraction from assistant response.</a:t>
            </a:r>
            <a:endParaRPr lang="en-US" sz="1300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9" name="Shape 9"/>
          <p:cNvSpPr/>
          <p:nvPr/>
        </p:nvSpPr>
        <p:spPr>
          <a:xfrm>
            <a:off x="6446520" y="5715000"/>
            <a:ext cx="489204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1300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Execution result with stdout and matplotlib chart.</a:t>
            </a:r>
            <a:endParaRPr lang="en-US" sz="1300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2920" y="320040"/>
            <a:ext cx="6858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1000" b="1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09</a:t>
            </a:r>
            <a:endParaRPr lang="en-US" sz="1000" b="1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3" name="Shape 3"/>
          <p:cNvSpPr/>
          <p:nvPr/>
        </p:nvSpPr>
        <p:spPr>
          <a:xfrm>
            <a:off x="685800" y="713232"/>
            <a:ext cx="96926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23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Deployment and Debugging</a:t>
            </a:r>
            <a:endParaRPr lang="en-US" sz="23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4" name="Shape 4"/>
          <p:cNvSpPr/>
          <p:nvPr/>
        </p:nvSpPr>
        <p:spPr>
          <a:xfrm>
            <a:off x="10287000" y="347472"/>
            <a:ext cx="114300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r"/>
            <a:r>
              <a:rPr lang="en-US" sz="900" b="1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Engineering</a:t>
            </a:r>
            <a:endParaRPr lang="en-US" sz="900" b="1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704088" y="1115568"/>
            <a:ext cx="93268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1100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The project was adapted from Linux to Windows local deployment.</a:t>
            </a:r>
            <a:endParaRPr lang="en-US" sz="1100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822960" y="1554480"/>
            <a:ext cx="3291840" cy="141732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2F5F8F"/>
            </a:solidFill>
          </a:ln>
        </p:spPr>
        <p:txBody>
          <a:bodyPr wrap="square" lIns="115000" tIns="65000" rIns="115000" bIns="65000" anchor="t"/>
          <a:lstStyle/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Environment Fixes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endParaRPr lang="en-US" sz="1400"/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local Qwen model path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PyTorch / CUDA compatibility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transformers version update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7" name="Shape 7"/>
          <p:cNvSpPr/>
          <p:nvPr/>
        </p:nvSpPr>
        <p:spPr>
          <a:xfrm>
            <a:off x="4434840" y="1554480"/>
            <a:ext cx="3291840" cy="141732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1F7A75"/>
            </a:solidFill>
          </a:ln>
        </p:spPr>
        <p:txBody>
          <a:bodyPr wrap="square" lIns="115000" tIns="65000" rIns="115000" bIns="65000" anchor="t"/>
          <a:lstStyle/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Code Runner Fixes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endParaRPr lang="en-US" sz="1400"/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Markdown and XML code tags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dedent indentation cleanup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pre-loaded df variable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8" name="Shape 8"/>
          <p:cNvSpPr/>
          <p:nvPr/>
        </p:nvSpPr>
        <p:spPr>
          <a:xfrm>
            <a:off x="8046720" y="1554480"/>
            <a:ext cx="2834640" cy="141732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3F7D58"/>
            </a:solidFill>
          </a:ln>
        </p:spPr>
        <p:txBody>
          <a:bodyPr wrap="square" lIns="115000" tIns="65000" rIns="115000" bIns="65000" anchor="t"/>
          <a:lstStyle/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UI Fixes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endParaRPr lang="en-US" sz="1400"/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streaming output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image file return for gr.Image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system prompt refinement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9" name="Shape 9"/>
          <p:cNvSpPr/>
          <p:nvPr/>
        </p:nvSpPr>
        <p:spPr>
          <a:xfrm>
            <a:off x="1097280" y="4251960"/>
            <a:ext cx="9966960" cy="685800"/>
          </a:xfrm>
          <a:prstGeom prst="roundRect">
            <a:avLst/>
          </a:prstGeom>
          <a:solidFill>
            <a:srgbClr val="F7F7F7"/>
          </a:solidFill>
          <a:ln w="9000">
            <a:solidFill>
              <a:srgbClr val="C9CED6"/>
            </a:solidFill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1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Engineering lesson: a Data Agent is not only model training; it also requires robust paths, dependencies, UI behavior and execution safety.</a:t>
            </a:r>
            <a:endParaRPr lang="en-US" sz="16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2920" y="320040"/>
            <a:ext cx="6858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1000" b="1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10</a:t>
            </a:r>
            <a:endParaRPr lang="en-US" sz="1000" b="1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3" name="Shape 3"/>
          <p:cNvSpPr/>
          <p:nvPr/>
        </p:nvSpPr>
        <p:spPr>
          <a:xfrm>
            <a:off x="685800" y="713232"/>
            <a:ext cx="96926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23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InsightPilot AI Startup Plan</a:t>
            </a:r>
            <a:endParaRPr lang="en-US" sz="23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4" name="Shape 4"/>
          <p:cNvSpPr/>
          <p:nvPr/>
        </p:nvSpPr>
        <p:spPr>
          <a:xfrm>
            <a:off x="10287000" y="347472"/>
            <a:ext cx="114300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r"/>
            <a:r>
              <a:rPr lang="en-US" sz="900" b="1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Q2</a:t>
            </a:r>
            <a:endParaRPr lang="en-US" sz="900" b="1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704088" y="1115568"/>
            <a:ext cx="93268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1100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A commercial extension of the Q1 Data Agent prototype.</a:t>
            </a:r>
            <a:endParaRPr lang="en-US" sz="1100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731520" y="1600200"/>
            <a:ext cx="3246120" cy="333756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2F5F8F"/>
            </a:solidFill>
          </a:ln>
        </p:spPr>
        <p:txBody>
          <a:bodyPr wrap="square" lIns="115000" tIns="65000" rIns="115000" bIns="65000" anchor="t"/>
          <a:lstStyle/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Problem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endParaRPr lang="en-US" sz="1400"/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SMEs have sales, marketing and operation data, but no dedicated data team.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7" name="Shape 7"/>
          <p:cNvSpPr/>
          <p:nvPr/>
        </p:nvSpPr>
        <p:spPr>
          <a:xfrm>
            <a:off x="4251960" y="1600200"/>
            <a:ext cx="3246120" cy="333756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1F7A75"/>
            </a:solidFill>
          </a:ln>
        </p:spPr>
        <p:txBody>
          <a:bodyPr wrap="square" lIns="115000" tIns="65000" rIns="115000" bIns="65000" anchor="t"/>
          <a:lstStyle/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Solution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endParaRPr lang="en-US" sz="1400"/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An AI data analyst that turns uploaded data into code, charts and reports.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8" name="Shape 8"/>
          <p:cNvSpPr/>
          <p:nvPr/>
        </p:nvSpPr>
        <p:spPr>
          <a:xfrm>
            <a:off x="7772400" y="1600200"/>
            <a:ext cx="3246120" cy="333756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3F7D58"/>
            </a:solidFill>
          </a:ln>
        </p:spPr>
        <p:txBody>
          <a:bodyPr wrap="square" lIns="115000" tIns="65000" rIns="115000" bIns="65000" anchor="t"/>
          <a:lstStyle/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Beachhead Market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endParaRPr lang="en-US" sz="1400"/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Small e-commerce and digital marketing teams with frequent reporting needs.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2920" y="320040"/>
            <a:ext cx="6858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1000" b="1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11</a:t>
            </a:r>
            <a:endParaRPr lang="en-US" sz="1000" b="1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3" name="Shape 3"/>
          <p:cNvSpPr/>
          <p:nvPr/>
        </p:nvSpPr>
        <p:spPr>
          <a:xfrm>
            <a:off x="685800" y="713232"/>
            <a:ext cx="96926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23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Business Model and Differentiation</a:t>
            </a:r>
            <a:endParaRPr lang="en-US" sz="23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4" name="Shape 4"/>
          <p:cNvSpPr/>
          <p:nvPr/>
        </p:nvSpPr>
        <p:spPr>
          <a:xfrm>
            <a:off x="10287000" y="347472"/>
            <a:ext cx="114300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r"/>
            <a:r>
              <a:rPr lang="en-US" sz="900" b="1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Business</a:t>
            </a:r>
            <a:endParaRPr lang="en-US" sz="900" b="1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704088" y="1115568"/>
            <a:ext cx="93268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1100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A focused SaaS product between generic AI chat and enterprise BI.</a:t>
            </a:r>
            <a:endParaRPr lang="en-US" sz="1100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731520" y="1417320"/>
            <a:ext cx="2057400" cy="3108960"/>
          </a:xfrm>
          <a:prstGeom prst="roundRect">
            <a:avLst/>
          </a:prstGeom>
          <a:solidFill>
            <a:srgbClr val="F7F7F7"/>
          </a:solidFill>
          <a:ln w="9000">
            <a:solidFill>
              <a:srgbClr val="C9CED6"/>
            </a:solidFill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1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Free</a:t>
            </a:r>
            <a:endParaRPr lang="en-US" sz="16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ctr"/>
            <a:endParaRPr lang="en-US" sz="1600"/>
          </a:p>
          <a:p>
            <a:pPr algn="ctr"/>
            <a:r>
              <a:rPr lang="en-US" sz="1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limited upload</a:t>
            </a:r>
            <a:endParaRPr lang="en-US" sz="16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ctr"/>
            <a:r>
              <a:rPr lang="en-US" sz="1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limited messages</a:t>
            </a:r>
            <a:endParaRPr lang="en-US" sz="16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7" name="Shape 7"/>
          <p:cNvSpPr/>
          <p:nvPr/>
        </p:nvSpPr>
        <p:spPr>
          <a:xfrm>
            <a:off x="2971800" y="1417320"/>
            <a:ext cx="2057400" cy="310896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2F5F8F"/>
            </a:solidFill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1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Starter</a:t>
            </a:r>
            <a:endParaRPr lang="en-US" sz="16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ctr"/>
            <a:endParaRPr lang="en-US" sz="1600"/>
          </a:p>
          <a:p>
            <a:pPr algn="ctr"/>
            <a:r>
              <a:rPr lang="en-US" sz="1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$19 / month</a:t>
            </a:r>
            <a:endParaRPr lang="en-US" sz="16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ctr"/>
            <a:r>
              <a:rPr lang="en-US" sz="1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CSV analysis</a:t>
            </a:r>
            <a:endParaRPr lang="en-US" sz="16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8" name="Shape 8"/>
          <p:cNvSpPr/>
          <p:nvPr/>
        </p:nvSpPr>
        <p:spPr>
          <a:xfrm>
            <a:off x="5212080" y="1417320"/>
            <a:ext cx="2057400" cy="310896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1F7A75"/>
            </a:solidFill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1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Team</a:t>
            </a:r>
            <a:endParaRPr lang="en-US" sz="16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ctr"/>
            <a:endParaRPr lang="en-US" sz="1600"/>
          </a:p>
          <a:p>
            <a:pPr algn="ctr"/>
            <a:r>
              <a:rPr lang="en-US" sz="1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$49 / user</a:t>
            </a:r>
            <a:endParaRPr lang="en-US" sz="16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ctr"/>
            <a:r>
              <a:rPr lang="en-US" sz="1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workspaces</a:t>
            </a:r>
            <a:endParaRPr lang="en-US" sz="16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9" name="Shape 9"/>
          <p:cNvSpPr/>
          <p:nvPr/>
        </p:nvSpPr>
        <p:spPr>
          <a:xfrm>
            <a:off x="7452360" y="1417320"/>
            <a:ext cx="2057400" cy="310896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3F7D58"/>
            </a:solidFill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1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Business</a:t>
            </a:r>
            <a:endParaRPr lang="en-US" sz="16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ctr"/>
            <a:endParaRPr lang="en-US" sz="1600"/>
          </a:p>
          <a:p>
            <a:pPr algn="ctr"/>
            <a:r>
              <a:rPr lang="en-US" sz="1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$299+</a:t>
            </a:r>
            <a:endParaRPr lang="en-US" sz="16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ctr"/>
            <a:r>
              <a:rPr lang="en-US" sz="1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connectors</a:t>
            </a:r>
            <a:endParaRPr lang="en-US" sz="16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10" name="Shape 10"/>
          <p:cNvSpPr/>
          <p:nvPr/>
        </p:nvSpPr>
        <p:spPr>
          <a:xfrm>
            <a:off x="9692640" y="1417320"/>
            <a:ext cx="1828800" cy="310896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A86622"/>
            </a:solidFill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15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Services</a:t>
            </a:r>
            <a:endParaRPr lang="en-US" sz="15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ctr"/>
            <a:endParaRPr lang="en-US" sz="1500"/>
          </a:p>
          <a:p>
            <a:pPr algn="ctr"/>
            <a:r>
              <a:rPr lang="en-US" sz="15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custom setup</a:t>
            </a:r>
            <a:endParaRPr lang="en-US" sz="15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ctr"/>
            <a:r>
              <a:rPr lang="en-US" sz="15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templates</a:t>
            </a:r>
            <a:endParaRPr lang="en-US" sz="15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11" name="Shape 11"/>
          <p:cNvSpPr/>
          <p:nvPr/>
        </p:nvSpPr>
        <p:spPr>
          <a:xfrm>
            <a:off x="960120" y="5257800"/>
            <a:ext cx="10241280" cy="502920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15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Differentiation: SME workflow, transparent code, reusable reports and low setup cost.</a:t>
            </a:r>
            <a:endParaRPr lang="en-US" sz="15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2920" y="320040"/>
            <a:ext cx="6858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1000" b="1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12</a:t>
            </a:r>
            <a:endParaRPr lang="en-US" sz="1000" b="1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3" name="Shape 3"/>
          <p:cNvSpPr/>
          <p:nvPr/>
        </p:nvSpPr>
        <p:spPr>
          <a:xfrm>
            <a:off x="685800" y="713232"/>
            <a:ext cx="96926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23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Industrial System Architecture</a:t>
            </a:r>
            <a:endParaRPr lang="en-US" sz="23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4" name="Shape 4"/>
          <p:cNvSpPr/>
          <p:nvPr/>
        </p:nvSpPr>
        <p:spPr>
          <a:xfrm>
            <a:off x="10287000" y="347472"/>
            <a:ext cx="114300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r"/>
            <a:r>
              <a:rPr lang="en-US" sz="900" b="1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Architecture</a:t>
            </a:r>
            <a:endParaRPr lang="en-US" sz="900" b="1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704088" y="1115568"/>
            <a:ext cx="93268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1100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Hot path for online requests; cold path for expensive AI jobs.</a:t>
            </a:r>
            <a:endParaRPr lang="en-US" sz="1100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pic>
        <p:nvPicPr>
          <p:cNvPr id="6" name="Picture 6"/>
          <p:cNvPicPr/>
          <p:nvPr/>
        </p:nvPicPr>
        <p:blipFill>
          <a:blip r:embed="rId1"/>
          <a:stretch>
            <a:fillRect/>
          </a:stretch>
        </p:blipFill>
        <p:spPr>
          <a:xfrm>
            <a:off x="594360" y="1325880"/>
            <a:ext cx="11018520" cy="5074920"/>
          </a:xfrm>
          <a:prstGeom prst="rect">
            <a:avLst/>
          </a:prstGeom>
          <a:ln w="8000">
            <a:solidFill>
              <a:srgbClr val="D1D5DB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2920" y="320040"/>
            <a:ext cx="6858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1000" b="1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13</a:t>
            </a:r>
            <a:endParaRPr lang="en-US" sz="1000" b="1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3" name="Shape 3"/>
          <p:cNvSpPr/>
          <p:nvPr/>
        </p:nvSpPr>
        <p:spPr>
          <a:xfrm>
            <a:off x="685800" y="713232"/>
            <a:ext cx="96926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23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Project Contributions</a:t>
            </a:r>
            <a:endParaRPr lang="en-US" sz="23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4" name="Shape 4"/>
          <p:cNvSpPr/>
          <p:nvPr/>
        </p:nvSpPr>
        <p:spPr>
          <a:xfrm>
            <a:off x="10287000" y="347472"/>
            <a:ext cx="114300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r"/>
            <a:r>
              <a:rPr lang="en-US" sz="900" b="1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Conclusion</a:t>
            </a:r>
            <a:endParaRPr lang="en-US" sz="900" b="1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704088" y="1115568"/>
            <a:ext cx="93268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1100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The project connects technical implementation, business design and system architecture.</a:t>
            </a:r>
            <a:endParaRPr lang="en-US" sz="1100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731520" y="1645920"/>
            <a:ext cx="3246120" cy="32004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2F5F8F"/>
            </a:solidFill>
          </a:ln>
        </p:spPr>
        <p:txBody>
          <a:bodyPr wrap="square" lIns="115000" tIns="65000" rIns="115000" bIns="65000" anchor="t"/>
          <a:lstStyle/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Technical Outcome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endParaRPr lang="en-US" sz="1400"/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non-random data selection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LoRA fine-tuning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local Data Agent demo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7" name="Shape 7"/>
          <p:cNvSpPr/>
          <p:nvPr/>
        </p:nvSpPr>
        <p:spPr>
          <a:xfrm>
            <a:off x="4251960" y="1645920"/>
            <a:ext cx="3246120" cy="32004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1F7A75"/>
            </a:solidFill>
          </a:ln>
        </p:spPr>
        <p:txBody>
          <a:bodyPr wrap="square" lIns="115000" tIns="65000" rIns="115000" bIns="65000" anchor="t"/>
          <a:lstStyle/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Business Outcome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endParaRPr lang="en-US" sz="1400"/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InsightPilot AI plan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competitor analysis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pricing and GTM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8" name="Shape 8"/>
          <p:cNvSpPr/>
          <p:nvPr/>
        </p:nvSpPr>
        <p:spPr>
          <a:xfrm>
            <a:off x="7772400" y="1645920"/>
            <a:ext cx="3246120" cy="32004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3F7D58"/>
            </a:solidFill>
          </a:ln>
        </p:spPr>
        <p:txBody>
          <a:bodyPr wrap="square" lIns="115000" tIns="65000" rIns="115000" bIns="65000" anchor="t"/>
          <a:lstStyle/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Architecture Outcome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endParaRPr lang="en-US" sz="1400"/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100,000-level concurrency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LLM engine and sandbox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monitoring and reliability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9" name="Shape 9"/>
          <p:cNvSpPr/>
          <p:nvPr/>
        </p:nvSpPr>
        <p:spPr>
          <a:xfrm>
            <a:off x="1097280" y="5577840"/>
            <a:ext cx="996696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ctr"/>
            <a:endParaRPr lang="en-US" sz="1200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ademic">
  <a:themeElements>
    <a:clrScheme name="Academic">
      <a:dk1>
        <a:srgbClr val="111111"/>
      </a:dk1>
      <a:lt1>
        <a:srgbClr val="FFFFFF"/>
      </a:lt1>
      <a:dk2>
        <a:srgbClr val="4B5563"/>
      </a:dk2>
      <a:lt2>
        <a:srgbClr val="F7F7F7"/>
      </a:lt2>
      <a:accent1>
        <a:srgbClr val="2F5F8F"/>
      </a:accent1>
      <a:accent2>
        <a:srgbClr val="1F7A75"/>
      </a:accent2>
      <a:accent3>
        <a:srgbClr val="3F7D58"/>
      </a:accent3>
      <a:accent4>
        <a:srgbClr val="A86622"/>
      </a:accent4>
      <a:accent5>
        <a:srgbClr val="9A2F2F"/>
      </a:accent5>
      <a:accent6>
        <a:srgbClr val="C9CED6"/>
      </a:accent6>
      <a:hlink>
        <a:srgbClr val="2F5F8F"/>
      </a:hlink>
      <a:folHlink>
        <a:srgbClr val="FFFFFF"/>
      </a:folHlink>
    </a:clrScheme>
    <a:fontScheme name="Aptos">
      <a:majorFont>
        <a:latin typeface="Aptos"/>
        <a:ea typeface="Microsoft YaHei"/>
        <a:cs typeface=""/>
      </a:majorFont>
      <a:minorFont>
        <a:latin typeface="Aptos"/>
        <a:ea typeface="Microsoft YaHei"/>
        <a:cs typeface=""/>
      </a:minorFont>
    </a:fontScheme>
    <a:fmtScheme name="Academic">
      <a:fillStyleLst/>
      <a:lnStyleLst>
        <a:ln/>
        <a:ln/>
        <a:ln/>
      </a:lnStyleLst>
      <a:effectStyleLst/>
      <a:bgFillStyleLst/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3688</Words>
  <Application>WPS 演示</Application>
  <PresentationFormat/>
  <Paragraphs>285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Arial</vt:lpstr>
      <vt:lpstr>宋体</vt:lpstr>
      <vt:lpstr>Wingdings</vt:lpstr>
      <vt:lpstr>Aptos</vt:lpstr>
      <vt:lpstr>Segoe UI</vt:lpstr>
      <vt:lpstr>微软雅黑</vt:lpstr>
      <vt:lpstr>Arial Unicode MS</vt:lpstr>
      <vt:lpstr>Calibri</vt:lpstr>
      <vt:lpstr>Academic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yh</cp:lastModifiedBy>
  <cp:revision>1</cp:revision>
  <dcterms:created xsi:type="dcterms:W3CDTF">2026-06-02T14:04:04Z</dcterms:created>
  <dcterms:modified xsi:type="dcterms:W3CDTF">2026-06-02T14:04:04Z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14A796559A984213984822D7DFB403AF_12</vt:lpwstr>
  </property>
  <property fmtid="{D5CDD505-2E9C-101B-9397-08002B2CF9AE}" pid="3" name="KSOProductBuildVer">
    <vt:lpwstr>2052-12.1.0.21915</vt:lpwstr>
  </property>
</Properties>
</file>