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endParaRPr lang="zh-CN" sz="1800"/>
          </a:p>
        </p:txBody>
      </p:sp>
      <p:sp>
        <p:nvSpPr>
          <p:cNvPr id="3" name="Shape 3"/>
          <p:cNvSpPr/>
          <p:nvPr/>
        </p:nvSpPr>
        <p:spPr>
          <a:xfrm>
            <a:off x="502920" y="411480"/>
            <a:ext cx="1920240" cy="31089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SEED ROADSHOW</a:t>
            </a:r>
            <a:endParaRPr lang="zh-CN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685800" y="1234440"/>
            <a:ext cx="758952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InsightPilot AI</a:t>
            </a:r>
            <a:endParaRPr lang="zh-CN"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31520" y="2331720"/>
            <a:ext cx="77724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200" b="1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面向中小企业的 AI Data Analyst in a Box</a:t>
            </a:r>
            <a:endParaRPr lang="zh-CN" sz="2200" b="1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49808" y="3063240"/>
            <a:ext cx="6766560" cy="7315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500">
                <a:solidFill>
                  <a:srgbClr val="E9EEF5"/>
                </a:solidFill>
                <a:latin typeface="微软雅黑" panose="020B0503020204020204" charset="-122"/>
                <a:ea typeface="微软雅黑" panose="020B0503020204020204" charset="-122"/>
              </a:rPr>
              <a:t>上传数据，用自然语言提问，自动获得分析代码、图表、洞察和可导出报告。</a:t>
            </a:r>
            <a:endParaRPr lang="zh-CN" sz="1500">
              <a:solidFill>
                <a:srgbClr val="E9EE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955279" y="1051560"/>
            <a:ext cx="3291840" cy="4343400"/>
          </a:xfrm>
          <a:prstGeom prst="roundRect">
            <a:avLst/>
          </a:prstGeom>
          <a:solidFill>
            <a:srgbClr val="12345C"/>
          </a:solidFill>
          <a:ln w="9000">
            <a:solidFill>
              <a:srgbClr val="2C5F94"/>
            </a:solidFill>
          </a:ln>
        </p:spPr>
        <p:txBody>
          <a:bodyPr wrap="square" lIns="120000" tIns="70000" rIns="120000" bIns="70000" anchor="ctr"/>
          <a:lstStyle/>
          <a:p>
            <a:pPr algn="l"/>
            <a:endParaRPr lang="zh-CN" sz="1800"/>
          </a:p>
        </p:txBody>
      </p:sp>
      <p:sp>
        <p:nvSpPr>
          <p:cNvPr id="8" name="Shape 8"/>
          <p:cNvSpPr/>
          <p:nvPr/>
        </p:nvSpPr>
        <p:spPr>
          <a:xfrm>
            <a:off x="8275320" y="1417320"/>
            <a:ext cx="2651760" cy="384048"/>
          </a:xfrm>
          <a:prstGeom prst="roundRect">
            <a:avLst/>
          </a:prstGeom>
          <a:solidFill>
            <a:srgbClr val="12345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600" b="1">
                <a:solidFill>
                  <a:srgbClr val="E9EEF5"/>
                </a:solidFill>
                <a:latin typeface="微软雅黑" panose="020B0503020204020204" charset="-122"/>
                <a:ea typeface="微软雅黑" panose="020B0503020204020204" charset="-122"/>
              </a:rPr>
              <a:t>融资目标</a:t>
            </a:r>
            <a:endParaRPr lang="zh-CN" sz="1600" b="1">
              <a:solidFill>
                <a:srgbClr val="E9EE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8366760" y="1938528"/>
            <a:ext cx="2468880" cy="777240"/>
          </a:xfrm>
          <a:prstGeom prst="roundRect">
            <a:avLst/>
          </a:prstGeom>
          <a:solidFill>
            <a:srgbClr val="12345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$500K</a:t>
            </a:r>
            <a:endParaRPr lang="zh-CN"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503920" y="2816352"/>
            <a:ext cx="2194560" cy="347472"/>
          </a:xfrm>
          <a:prstGeom prst="roundRect">
            <a:avLst/>
          </a:prstGeom>
          <a:solidFill>
            <a:srgbClr val="12345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300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18 个月 runway</a:t>
            </a:r>
            <a:endParaRPr lang="zh-CN" sz="1300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8458200" y="3703320"/>
            <a:ext cx="2286000" cy="1051560"/>
          </a:xfrm>
          <a:prstGeom prst="roundRect">
            <a:avLst/>
          </a:prstGeom>
          <a:solidFill>
            <a:srgbClr val="12345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300">
                <a:solidFill>
                  <a:srgbClr val="E9EEF5"/>
                </a:solidFill>
                <a:latin typeface="微软雅黑" panose="020B0503020204020204" charset="-122"/>
                <a:ea typeface="微软雅黑" panose="020B0503020204020204" charset="-122"/>
              </a:rPr>
              <a:t>用于产品工程、LLM/API 成本、早期获客与安全合规</a:t>
            </a:r>
            <a:endParaRPr lang="zh-CN" sz="1300">
              <a:solidFill>
                <a:srgbClr val="E9EE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85800" y="6053328"/>
            <a:ext cx="713232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00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</a:rPr>
              <a:t>Project 2 | LLM Startup Business Plan | Editable Pitch Deck</a:t>
            </a:r>
            <a:endParaRPr lang="zh-CN" sz="100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02 / Problem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中小企业有数据，但没有数据团队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传统 BI 太重，人工 analyst 太贵，通用 chatbot 又缺少可复现 workflow。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85800" y="1691640"/>
            <a:ext cx="324612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6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数据分散</a:t>
            </a:r>
            <a:endParaRPr lang="zh-CN" sz="16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600"/>
          </a:p>
          <a:p>
            <a:pPr algn="l"/>
            <a:r>
              <a:rPr lang="zh-CN" sz="16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销售、广告、库存、客户数据散落在 CSV、Excel、Shopify、Google Ads、CRM 中。</a:t>
            </a:r>
            <a:endParaRPr lang="zh-CN" sz="16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4251960" y="1691640"/>
            <a:ext cx="324612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6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分析太慢</a:t>
            </a:r>
            <a:endParaRPr lang="zh-CN" sz="16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600"/>
          </a:p>
          <a:p>
            <a:pPr algn="l"/>
            <a:r>
              <a:rPr lang="zh-CN" sz="16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业务人员依赖手工表格或外部 analyst，问题到答案之间常常相隔数小时或数天。</a:t>
            </a:r>
            <a:endParaRPr lang="zh-CN" sz="16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818120" y="1691640"/>
            <a:ext cx="324612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6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结果难复现</a:t>
            </a:r>
            <a:endParaRPr lang="zh-CN" sz="16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600"/>
          </a:p>
          <a:p>
            <a:pPr algn="l"/>
            <a:r>
              <a:rPr lang="zh-CN" sz="16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普通 AI chat 可以回答问题，但分析过程、代码、图表和团队协作难以长期沉淀。</a:t>
            </a:r>
            <a:endParaRPr lang="zh-CN" sz="16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" y="5715000"/>
            <a:ext cx="10332720" cy="384048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痛点结论：SMEs 需要一个可解释、可执行、可复现的 AI 数据分析工作流，而不只是一个聊天窗口。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03 / Solution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InsightPilot AI：AI Data Analyst in a Box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把上传数据、自然语言提问、代码执行、图表生成和报告导出放进同一工作流。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40080" y="1508760"/>
            <a:ext cx="2103120" cy="11430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上传数据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CSV / Excel / Sheets / DB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2971800" y="1508760"/>
            <a:ext cx="2103120" cy="11430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自然语言提问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业务问题而非 SQL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303520" y="1508760"/>
            <a:ext cx="2103120" cy="11430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Agent 分析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计划 + Python/SQL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635240" y="1508760"/>
            <a:ext cx="2103120" cy="11430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沙箱执行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可验证结果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966960" y="1508760"/>
            <a:ext cx="1600200" cy="11430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图表 + 洞察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14400" y="3657600"/>
            <a:ext cx="3108960" cy="9601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给 Founder</a:t>
            </a:r>
            <a:endParaRPr lang="zh-CN"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看懂收入、客户、库存变化</a:t>
            </a:r>
            <a:endParaRPr lang="zh-CN"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526280" y="3657600"/>
            <a:ext cx="3108960" cy="9601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1C6D4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给 Marketing</a:t>
            </a:r>
            <a:endParaRPr lang="zh-CN"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解释 ROI 与投放浪费</a:t>
            </a:r>
            <a:endParaRPr lang="zh-CN"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8138160" y="3657600"/>
            <a:ext cx="2743200" cy="9601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3A559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给 Analyst</a:t>
            </a:r>
            <a:endParaRPr lang="zh-CN"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减少重复报表劳动</a:t>
            </a:r>
            <a:endParaRPr lang="zh-CN"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Line 13"/>
          <p:cNvCxnSpPr/>
          <p:nvPr/>
        </p:nvCxnSpPr>
        <p:spPr>
          <a:xfrm>
            <a:off x="2724912" y="2084831"/>
            <a:ext cx="237744" cy="0"/>
          </a:xfrm>
          <a:prstGeom prst="line">
            <a:avLst/>
          </a:prstGeom>
          <a:ln w="18000">
            <a:solidFill>
              <a:srgbClr val="1F6FEB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5065776" y="2084831"/>
            <a:ext cx="228600" cy="0"/>
          </a:xfrm>
          <a:prstGeom prst="line">
            <a:avLst/>
          </a:prstGeom>
          <a:ln w="18000">
            <a:solidFill>
              <a:srgbClr val="1F6FEB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397496" y="2084831"/>
            <a:ext cx="228600" cy="0"/>
          </a:xfrm>
          <a:prstGeom prst="line">
            <a:avLst/>
          </a:prstGeom>
          <a:ln w="18000">
            <a:solidFill>
              <a:srgbClr val="1F6FEB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9738360" y="2084831"/>
            <a:ext cx="210312" cy="0"/>
          </a:xfrm>
          <a:prstGeom prst="line">
            <a:avLst/>
          </a:prstGeom>
          <a:ln w="18000">
            <a:solidFill>
              <a:srgbClr val="1F6FEB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04 / Product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核心产品能力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面向中小团队的自然语言数据分析 SaaS。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594360" y="1417320"/>
            <a:ext cx="3429000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Data Upload &amp; Connectors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CSV/Excel MVP，后续接入 Google Sheets、Shopify、Stripe、HubSpot、PostgreSQL。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4251960" y="1417320"/>
            <a:ext cx="3429000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Natural-language Analysis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用户用业务语言提问，Agent 自动生成分析计划、代码和解释。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909560" y="1417320"/>
            <a:ext cx="3429000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Data Cleaning &amp; Profiling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自动检测缺失值、重复行、异常值、日期列和字段类型。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594360" y="3063240"/>
            <a:ext cx="3429000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Charts &amp; Reports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自动生成趋势图、柱状图、漏斗图、cohort 表和 PDF/PPT 报告。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251960" y="3063240"/>
            <a:ext cx="3429000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Transparent Code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展示 Python/SQL code 与执行日志，让分析过程可验证、可复现。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909560" y="3063240"/>
            <a:ext cx="3429000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Reusable Workflow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保存历史分析、常用指标定义和团队共享项目。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31520" y="5166360"/>
            <a:ext cx="1078992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MVP 已可复用 Q1 Data Agent Demo：文件上传 + 数据摘要注入 + 流式问答 + Code Runner + 图表输出。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05 / Market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Beachhead Market：电商与数字营销团队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先从频繁使用数据、但缺少专职数据团队的 SMEs 切入。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85800" y="1554480"/>
            <a:ext cx="320040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2400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</a:rPr>
              <a:t>5-100 人团队</a:t>
            </a:r>
            <a:endParaRPr lang="zh-CN" sz="2400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4160520" y="1554480"/>
            <a:ext cx="320040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2400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</a:rPr>
              <a:t>高频分析场景</a:t>
            </a:r>
            <a:endParaRPr lang="zh-CN" sz="2400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635240" y="1554480"/>
            <a:ext cx="320040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2400" b="1">
                <a:solidFill>
                  <a:srgbClr val="1F6FEB"/>
                </a:solidFill>
                <a:latin typeface="微软雅黑" panose="020B0503020204020204" charset="-122"/>
                <a:ea typeface="微软雅黑" panose="020B0503020204020204" charset="-122"/>
              </a:rPr>
              <a:t>低数据团队配置</a:t>
            </a:r>
            <a:endParaRPr lang="zh-CN" sz="2400" b="1">
              <a:solidFill>
                <a:srgbClr val="1F6F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31520" y="3063240"/>
            <a:ext cx="2377440" cy="13258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E-commerce Founder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关心收入、产品表现、库存、退款。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3337560" y="3063240"/>
            <a:ext cx="2377440" cy="13258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Marketing Manager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关心 ROI、渠道表现、投放浪费。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5943600" y="3063240"/>
            <a:ext cx="2377440" cy="13258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Operations Manager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关心履约、供应链、异常检测。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8549640" y="3063240"/>
            <a:ext cx="2377440" cy="13258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Junior Analyst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关心重复报表和可复现分析。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1051560" y="5303520"/>
            <a:ext cx="9966960" cy="457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典型问题：Which product category grew fastest? Which campaign wasted budget? Why did revenue drop last week?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06 / Competition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竞品格局与差异化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InsightPilot AI 位于通用 AI chat 与企业 BI 之间的空缺地带。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40080" y="1417320"/>
            <a:ext cx="2194560" cy="42062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Generic AI Chat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ChatGPT Advanced Data Analysis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优势：灵活强大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不足：项目/团队 workflow 弱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2971800" y="1417320"/>
            <a:ext cx="2194560" cy="42062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No-code AI Analysis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Julius AI / Rows AI / Capalyze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优势：上手快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不足：复杂分析与工作流沉淀不足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303520" y="1417320"/>
            <a:ext cx="2194560" cy="42062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Technical Notebooks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Hex / Deepnote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优势：协作和代码强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不足：非技术用户门槛高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635240" y="1417320"/>
            <a:ext cx="2194560" cy="42062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Enterprise BI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ThoughtSpot / Tableau / Power BI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优势：企业生态成熟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不足：setup cost 高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966960" y="1417320"/>
            <a:ext cx="1508760" cy="42062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Our Edge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300"/>
          </a:p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SME workflow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Transparent code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Reusable reports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Low setup cost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07 / Business Model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SaaS 订阅 + 高价值服务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用 freemium 获客，用团队协作、连接器、报告导出和大数据集能力变现。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548640" y="1417320"/>
            <a:ext cx="2148840" cy="356616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Free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$0/mo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有限上传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有限消息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导出水印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2834640" y="1417320"/>
            <a:ext cx="2148840" cy="3566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Starter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$19/mo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CSV/Excel 分析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图表导出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保存项目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120640" y="1417320"/>
            <a:ext cx="2148840" cy="3566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Team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$49/user/mo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共享 workspace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scheduled reports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connectors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406640" y="1417320"/>
            <a:ext cx="2148840" cy="3566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Business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$299+/mo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DB connectors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权限管理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audit logs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692640" y="1417320"/>
            <a:ext cx="2057400" cy="3566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Services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Custom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500"/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数据接入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模板配置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企业培训</a:t>
            </a:r>
            <a:endParaRPr lang="zh-CN"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77240" y="5486400"/>
            <a:ext cx="10515600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付费触发点：更大文件、更多分析次数、团队协作、数据连接器、PDF/PPT export、定期报告。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08 / Technology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技术壁垒：Agent + Sandbox + Reproducible Workflow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不是单纯包装 LLM API，而是把分析链路产品化。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40080" y="1417320"/>
            <a:ext cx="2743200" cy="44348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LLM Engine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400"/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LLM Gateway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Model routing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Fine-tuned Qwen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Fallback model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Token/cost tracking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3611880" y="1417320"/>
            <a:ext cx="2743200" cy="44348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1C6D4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Agent Orchestrator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400"/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Data understanding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Analysis planning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Python/SQL generation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Validation Agent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Report Agent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583680" y="1417320"/>
            <a:ext cx="2743200" cy="44348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3A559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Execution Sandbox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400"/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Isolated container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Time/memory limit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Restricted network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Code scan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Logs + charts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9555480" y="1417320"/>
            <a:ext cx="1828800" cy="44348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Memory &amp; Reports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Project memory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Metric definitions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Result cache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PDF/PPT export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09 / Architecture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工业级架构支持 100,000-level concurrency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Hot path 快速响应，Cold path 异步处理重型 AI 任务。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371600"/>
            <a:ext cx="1828800" cy="6858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Users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2651760" y="1371600"/>
            <a:ext cx="1828800" cy="6858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CDN / WAF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Load Balancer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800600" y="1371600"/>
            <a:ext cx="1828800" cy="6858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API Gateway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Microservices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949440" y="1371600"/>
            <a:ext cx="1828800" cy="6858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Message Queue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Kafka/RabbitMQ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098280" y="1371600"/>
            <a:ext cx="2423160" cy="685800"/>
          </a:xfrm>
          <a:prstGeom prst="roundRect">
            <a:avLst/>
          </a:prstGeom>
          <a:solidFill>
            <a:srgbClr val="F5F8FC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Agent Workers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Sandbox Workers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31520" y="2971800"/>
            <a:ext cx="2834640" cy="1051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High Concurrency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Stateless API + autoscaling + Redis + queue backpressure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886200" y="2971800"/>
            <a:ext cx="2834640" cy="1051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1C6D4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Data Layer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PostgreSQL metadata + Object Storage + Vector DB + Result Store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7040880" y="2971800"/>
            <a:ext cx="2834640" cy="1051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3A559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Monitoring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300"/>
          </a:p>
          <a:p>
            <a:pPr algn="l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Prometheus + Grafana + OpenTelemetry + Alertmanager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1828800" y="4983480"/>
            <a:ext cx="841248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关键设计：普通请求横向扩展，LLM 推理/代码执行进入队列，按 plan 和 quota 做优先级调度。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Line 14"/>
          <p:cNvCxnSpPr/>
          <p:nvPr/>
        </p:nvCxnSpPr>
        <p:spPr>
          <a:xfrm>
            <a:off x="2331720" y="1719072"/>
            <a:ext cx="320040" cy="0"/>
          </a:xfrm>
          <a:prstGeom prst="line">
            <a:avLst/>
          </a:prstGeom>
          <a:ln w="18000">
            <a:solidFill>
              <a:srgbClr val="1F6FEB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480560" y="1719072"/>
            <a:ext cx="320039" cy="0"/>
          </a:xfrm>
          <a:prstGeom prst="line">
            <a:avLst/>
          </a:prstGeom>
          <a:ln w="18000">
            <a:solidFill>
              <a:srgbClr val="1F6FEB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6629400" y="1719072"/>
            <a:ext cx="320039" cy="0"/>
          </a:xfrm>
          <a:prstGeom prst="line">
            <a:avLst/>
          </a:prstGeom>
          <a:ln w="18000">
            <a:solidFill>
              <a:srgbClr val="1F6FEB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778240" y="1719072"/>
            <a:ext cx="320039" cy="0"/>
          </a:xfrm>
          <a:prstGeom prst="line">
            <a:avLst/>
          </a:prstGeom>
          <a:ln w="18000">
            <a:solidFill>
              <a:srgbClr val="1F6FEB"/>
            </a:solidFill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10 / Go-to-Market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低成本 indie GTM：模板 + 内容 + Product Hunt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先验证真实需求，再扩大获客。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31520" y="1554480"/>
            <a:ext cx="301752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Phase 1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MVP Validation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400"/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基于 Q1 demo 构建 MVP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访谈 20-30 位用户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- 10 位 active testers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Shopify / Ads / Customer 模板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4160520" y="1554480"/>
            <a:ext cx="301752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1C6D4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Phase 2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Community Growth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400"/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Product Hunt launch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LinkedIn / X / YouTube demo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SEO: AI CSV analysis tool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案例文章和短视频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589520" y="1554480"/>
            <a:ext cx="301752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3A559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Phase 3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Paid Conversion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400"/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Team workspace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Scheduled reports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Connectors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PDF/PPT exports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- Usage-based upgrade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1188720" y="5486400"/>
            <a:ext cx="9692640" cy="438912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核心增长假设：用户先用模板解决一个真实业务问题，再因复用、协作、连接器和报告能力升级付费。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11 / Milestones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18 个月里程碑与收入目标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从 MVP 到 seed-ready traction。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40080" y="1417320"/>
            <a:ext cx="205740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Month 1-2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MVP + 用户访谈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30 interviewed users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10 active testers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2880360" y="1417320"/>
            <a:ext cx="205740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8E0EA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Month 3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Public Beta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500 signups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50 WAU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120640" y="1417320"/>
            <a:ext cx="205740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Month 6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First Revenue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100 paying users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MRR $2K-$5K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360920" y="1417320"/>
            <a:ext cx="2057400" cy="34747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Month 12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Team Plan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500 paying users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MRR $20K+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601200" y="1417320"/>
            <a:ext cx="1874519" cy="3474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Month 18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Seed-ready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400"/>
          </a:p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Retention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Connectors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Pilots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60120" y="5440680"/>
            <a:ext cx="10058400" cy="5029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衡量指标：weekly active analysis、code execution success rate、report export rate、paid conversion、MRR。</a:t>
            </a:r>
            <a:endParaRPr lang="zh-CN" sz="1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1480" y="256032"/>
            <a:ext cx="1463040" cy="32004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000" b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12 / Funding Ask</a:t>
            </a:r>
            <a:endParaRPr lang="zh-CN" sz="1000" b="1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66928" y="685800"/>
            <a:ext cx="9875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4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融资 $500K，支持 18 个月 runway</a:t>
            </a:r>
            <a:endParaRPr lang="zh-CN" sz="24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66928" y="11247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10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资金用于把 Q1 技术原型推进为 production-ready SaaS。</a:t>
            </a:r>
            <a:endParaRPr lang="zh-CN" sz="1100">
              <a:solidFill>
                <a:srgbClr val="5B66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31520" y="1417320"/>
            <a:ext cx="3154680" cy="42976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$500K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2000"/>
          </a:p>
          <a:p>
            <a:pPr algn="ctr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Seed Funding Ask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2000"/>
          </a:p>
          <a:p>
            <a:pPr algn="ctr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目标：18 个月 runway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完成产品化、连接器、早期付费用户和安全合规。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4343400" y="1508760"/>
            <a:ext cx="1737360" cy="24688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6FEB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45%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800"/>
          </a:p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Product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Engineering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309360" y="1508760"/>
            <a:ext cx="1737360" cy="24688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1C6D4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800"/>
          </a:p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LLM/API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275320" y="1508760"/>
            <a:ext cx="1737360" cy="24688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3A559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800"/>
          </a:p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Sales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Marketing</a:t>
            </a:r>
            <a:endParaRPr lang="zh-CN"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0241280" y="1508760"/>
            <a:ext cx="1234440" cy="24688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F59E0B"/>
            </a:solidFill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7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endParaRPr lang="zh-CN" sz="17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1700"/>
          </a:p>
          <a:p>
            <a:pPr algn="ctr"/>
            <a:r>
              <a:rPr lang="zh-CN" sz="17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Legal</a:t>
            </a:r>
            <a:endParaRPr lang="zh-CN" sz="17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Ops</a:t>
            </a:r>
            <a:endParaRPr lang="zh-CN" sz="17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4389120" y="4617720"/>
            <a:ext cx="7040880" cy="6858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ctr"/>
            <a:r>
              <a:rPr lang="zh-CN"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</a:rPr>
              <a:t>融资后成果：production-ready SaaS、5-8 个 connectors、1,000+ paying users 或 100+ team customers。</a:t>
            </a:r>
            <a:endParaRPr lang="zh-CN"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endParaRPr lang="zh-CN" sz="1800"/>
          </a:p>
        </p:txBody>
      </p:sp>
      <p:sp>
        <p:nvSpPr>
          <p:cNvPr id="3" name="Shape 3"/>
          <p:cNvSpPr/>
          <p:nvPr/>
        </p:nvSpPr>
        <p:spPr>
          <a:xfrm>
            <a:off x="777240" y="777240"/>
            <a:ext cx="804672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zh-CN"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822960" y="1920240"/>
            <a:ext cx="8046720" cy="5303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2800" b="1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InsightPilot AI</a:t>
            </a:r>
            <a:endParaRPr lang="zh-CN" sz="2800" b="1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841248" y="2697480"/>
            <a:ext cx="7132320" cy="5486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800">
                <a:solidFill>
                  <a:srgbClr val="E9EEF5"/>
                </a:solidFill>
                <a:latin typeface="微软雅黑" panose="020B0503020204020204" charset="-122"/>
                <a:ea typeface="微软雅黑" panose="020B0503020204020204" charset="-122"/>
              </a:rPr>
              <a:t>让每个小团队都拥有一个可解释、可执行、可复现的 AI Data Analyst。</a:t>
            </a:r>
            <a:endParaRPr lang="zh-CN" sz="1800">
              <a:solidFill>
                <a:srgbClr val="E9EE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8138160" y="1143000"/>
            <a:ext cx="3200400" cy="3977639"/>
          </a:xfrm>
          <a:prstGeom prst="roundRect">
            <a:avLst/>
          </a:prstGeom>
          <a:solidFill>
            <a:srgbClr val="12345C"/>
          </a:solidFill>
          <a:ln w="9000">
            <a:solidFill>
              <a:srgbClr val="2C5F94"/>
            </a:solidFill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Next Step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600"/>
          </a:p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完成 MVP 上线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补齐 Shopify / Sheets connectors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获取 10 个 active testers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准备 Product Hunt launch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 寻找 seed investors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68680" y="5989320"/>
            <a:ext cx="71323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wrap="square" lIns="120000" tIns="70000" rIns="120000" bIns="70000" anchor="ctr"/>
          <a:lstStyle/>
          <a:p>
            <a:pPr algn="l"/>
            <a:r>
              <a:rPr lang="zh-CN" sz="100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</a:rPr>
              <a:t>LLM assisted by OpenAI ChatGPT / Codex based on GPT-5; final content checked by student.</a:t>
            </a:r>
            <a:endParaRPr lang="zh-CN" sz="100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3965" y="4050665"/>
            <a:ext cx="4347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12313327 </a:t>
            </a:r>
            <a:r>
              <a:rPr lang="zh-CN" altLang="en-US">
                <a:solidFill>
                  <a:schemeClr val="bg1"/>
                </a:solidFill>
              </a:rPr>
              <a:t>张岩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ightPilot">
  <a:themeElements>
    <a:clrScheme name="InsightPilot">
      <a:dk1>
        <a:srgbClr val="0B1F3A"/>
      </a:dk1>
      <a:lt1>
        <a:srgbClr val="FFFFFF"/>
      </a:lt1>
      <a:dk2>
        <a:srgbClr val="172033"/>
      </a:dk2>
      <a:lt2>
        <a:srgbClr val="F5F8FC"/>
      </a:lt2>
      <a:accent1>
        <a:srgbClr val="1F6FEB"/>
      </a:accent1>
      <a:accent2>
        <a:srgbClr val="31C6D4"/>
      </a:accent2>
      <a:accent3>
        <a:srgbClr val="23A559"/>
      </a:accent3>
      <a:accent4>
        <a:srgbClr val="F59E0B"/>
      </a:accent4>
      <a:accent5>
        <a:srgbClr val="D92D20"/>
      </a:accent5>
      <a:accent6>
        <a:srgbClr val="5B667A"/>
      </a:accent6>
      <a:hlink>
        <a:srgbClr val="1F6FEB"/>
      </a:hlink>
      <a:folHlink>
        <a:srgbClr val="5B667A"/>
      </a:folHlink>
    </a:clrScheme>
    <a:fontScheme name="Microsoft YaHe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InsightPilot">
      <a:fillStyleLst/>
      <a:lnStyleLst>
        <a:ln/>
        <a:ln/>
        <a:ln/>
      </a:lnStyleLst>
      <a:effectStyleLst/>
      <a:bgFillStyleLst/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4477</Words>
  <Application>WPS 演示</Application>
  <PresentationFormat/>
  <Paragraphs>425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InsightPilot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yh</cp:lastModifiedBy>
  <cp:revision>1</cp:revision>
  <dcterms:created xsi:type="dcterms:W3CDTF">2026-06-03T04:56:50Z</dcterms:created>
  <dcterms:modified xsi:type="dcterms:W3CDTF">2026-06-03T04:56:50Z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ABD980C8BC524F498D9D20291E120D76_12</vt:lpwstr>
  </property>
  <property fmtid="{D5CDD505-2E9C-101B-9397-08002B2CF9AE}" pid="3" name="KSOProductBuildVer">
    <vt:lpwstr>2052-12.1.0.21915</vt:lpwstr>
  </property>
</Properties>
</file>